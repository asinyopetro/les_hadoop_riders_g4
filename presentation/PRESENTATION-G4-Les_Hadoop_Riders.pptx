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Bonjour, G4 Les_Hadoop_Riders. On présente notre cluster Hadoop Docker. Objectif en une phrase. Liens Hub et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l’ordre. Préciser que Wren (dernière) fait la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 contexte, puis chaque V avec un exemple. Finir sur HDFS + YARN.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Comparer les 2 colonnes. Insister blocs + réplication + rôle NameNode.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Suivre 1→2→3. Si question ApplicationMaster : chef du job lancé via le 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Schéma master puis 5 workers. Citer ports et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3 commandes. Montrer capture. Rappeler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Suivre les 5 étapes. Expliquer Trash et setrep. Reviendra pour la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vite Monte Carlo. Insister SUCCEEDED + id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2 captures. Citer missing block / setrep.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problème = une cause = une solution. Puis passer à Wren pour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Wren conclut : 5 points rapidement, liens Hub/GitHub, puis « Merci, questions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ub.docker.com/r/leshadoopriders/hadoop-tp-g4" TargetMode="External"/><Relationship Id="rId4" Type="http://schemas.openxmlformats.org/officeDocument/2006/relationships/hyperlink" Target="https://github.com/asinyopetro/Les_Hadoop_Riders_G4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://localhost:8088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9870" TargetMode="External"/><Relationship Id="rId3" Type="http://schemas.openxmlformats.org/officeDocument/2006/relationships/hyperlink" Target="http://localhost:8088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b.docker.com/r/leshadoopriders/hadoop-tp-g4" TargetMode="External"/><Relationship Id="rId3" Type="http://schemas.openxmlformats.org/officeDocument/2006/relationships/hyperlink" Target="https://github.com/asinyopetro/Les_Hadoop_Riders_G4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8088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://localhost:9870" TargetMode="External"/><Relationship Id="rId5" Type="http://schemas.openxmlformats.org/officeDocument/2006/relationships/hyperlink" Target="http://localhost:9870/dfshealth.html#tab-datanode" TargetMode="External"/><Relationship Id="rId6" Type="http://schemas.openxmlformats.org/officeDocument/2006/relationships/hyperlink" Target="http://localhost:8088" TargetMode="Externa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hub.docker.com/r/leshadoopriders/hadoop-tp-g4" TargetMode="External"/><Relationship Id="rId4" Type="http://schemas.openxmlformats.org/officeDocument/2006/relationships/hyperlink" Target="https://github.com/asinyopetro/Les_Hadoop_Riders_G4" TargetMode="Externa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754880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-data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143000"/>
            <a:ext cx="4297680" cy="3069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26679" y="48920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Preuve : UI NameNode — 5 DataNodes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Cluster Hadoop avec Docker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D1FAE5"/>
                </a:solidFill>
                <a:latin typeface="Calibri"/>
              </a:rPr>
              <a:t>Déploiement et exploitation HDFS + YARN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Cours IFM30522 — UA1 Projet 1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Groupe G4 — Les_Hadoop_Riders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8328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2E8F0"/>
                </a:solidFill>
                <a:latin typeface="Calibri"/>
              </a:rPr>
              <a:t>Objectif : montrer qu’on sait déployer un cluster multi-nœuds,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E2E8F0"/>
                </a:solidFill>
                <a:latin typeface="Calibri"/>
              </a:rPr>
              <a:t>manipuler HDFS, lancer un job YARN et publier l’image Docker.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3"/>
              </a:rPr>
              <a:t>Docker Hub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709160"/>
            <a:ext cx="2926080" cy="36576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926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4"/>
              </a:rPr>
              <a:t>GitHub 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Plan — qui présente quoi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Environ 8–10 minutes. Chaque slide indique le présentateur en bas.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3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3V e-commerce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Kassoum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60020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4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HDFS vs local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Joel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60020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783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5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YARN RM / NM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Forbes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01752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2004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6–7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Archi + Hub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Frank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1752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2004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8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HDFS pratique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Wren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01752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32004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9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Job 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Forbes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43484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17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10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Monitoring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Joel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443484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617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11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Problèmes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Kassoum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43484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4617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5C4C"/>
                </a:solidFill>
                <a:latin typeface="Calibri"/>
              </a:rPr>
              <a:t>Slide 12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93B"/>
                </a:solidFill>
                <a:latin typeface="Calibri"/>
              </a:rPr>
              <a:t>Conclusion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Wren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Komla Petro Asinyo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Cas d’usage : e-commerce et les 3V du Big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Nous avons choisi une chaîne de magasins e-commerce : tickets de caisse, logs du site web,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mouvements de stock et images produits. Les données grossissent vite et arrivent en continu.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74519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3520440" cy="50292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38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0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Beaucoup d’événements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sur plusieurs années.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Une seule machine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ne suffit plus.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874519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874519"/>
            <a:ext cx="3520440" cy="502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938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Vélocité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60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Commandes et paiements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en quasi temps réel.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Il faut pouvoir réagir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(fraude, rupture).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874519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1874519"/>
            <a:ext cx="3520440" cy="5029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938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Variété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60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Formats mixtes :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CSV, JSON, logs texte,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images produits.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006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Lien avec Hadoop : HDFS stocke ces données de façon distribuée ; YARN permet de lancer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des traitements (ex. MapReduce) sur le cluster sans tout centraliser sur un seul serveur.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Kassoum Dene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HDFS vs système de fichiers classique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Différence clé : stockage centralisé sur une machine vs stockage distribué et répliqué.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475569"/>
                </a:solidFill>
                <a:latin typeface="Calibri"/>
              </a:rPr>
              <a:t>FS classique (NTFS, ext4…)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1945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267712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Une seule machine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fichier stocké en entier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métadonnées gérées par l’OS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Si le disque tombe, les données sont perdues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Pas de réplication automatique entre machines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Capacité limitée au matériel local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• Adapté aux petits volumes du quotidien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6235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5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0F5C4C"/>
                </a:solidFill>
                <a:latin typeface="Calibri"/>
              </a:rPr>
              <a:t>HDFS (Hadoop)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2148840"/>
            <a:ext cx="2926080" cy="96012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2221992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NameNode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noms, dossiers, emplacement des blocs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337560"/>
            <a:ext cx="1645920" cy="96012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3410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DataNode 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337560"/>
            <a:ext cx="1645920" cy="96012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410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DataNode 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3337560"/>
            <a:ext cx="1645920" cy="96012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19" y="3410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DataNode 3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blocs répliqués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Fichier découpé en blocs (souvent 128 Mo).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Plusieurs copies sur le cluster → tolérance aux pannes.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Le NameNode ne stocke pas le contenu des fichiers.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Joel Kazoni Tugirimana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YARN : qui orchestre, qui exécute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YARN (Yet Another Resource Negotiator) gère les ressources CPU/mémoire du cluster pour les jobs.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33832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1. Client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Soumet une application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ex. yarn jar … pi 4 1000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demande des ressources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600200"/>
            <a:ext cx="3749039" cy="214884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673352"/>
            <a:ext cx="356615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2. ResourceManager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 le master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Connaît le cluster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Alloue des conteneurs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Démarre l’ApplicationMaster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600200"/>
            <a:ext cx="3566160" cy="21488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673352"/>
            <a:ext cx="33832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3. NodeManager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 chaque worker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Lance les conteneurs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Surveille l’exécution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Remonte l’état au RM</a:t>
            </a:r>
          </a:p>
        </p:txBody>
      </p:sp>
      <p:pic>
        <p:nvPicPr>
          <p:cNvPr id="13" name="Picture 12" descr="screenshot-y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977639"/>
            <a:ext cx="6858000" cy="48985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" y="594360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Capture UI YARN — applications du cluster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39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À retenir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ResourceManager = décide et coordonne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NodeManager = exécute sur sa machine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3"/>
              </a:rPr>
              <a:t>Ouvrir UI YARN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Forbes Magène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Architecture : 1 master + 5 workers (Docker)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Six conteneurs sur le réseau Docker hadoop-net, construits depuis la même image du groupe.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554480"/>
            <a:ext cx="7040880" cy="1417320"/>
          </a:xfrm>
          <a:prstGeom prst="roundRect">
            <a:avLst>
              <a:gd name="adj" fmla="val 8000"/>
            </a:avLst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627632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hadoop-master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NameNode (HDFS)  ·  ResourceManager (YARN)  ·  SecondaryNameNode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Ports exposés : 9870 (UI HDFS) · 8088 (UI YARN) · 9000 (RPC)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79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hadoop-worker3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19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59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hadoop-worker4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246120"/>
            <a:ext cx="2194560" cy="123444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3319272"/>
            <a:ext cx="20116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hadoop-worker5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DataNode (stockage)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NodeManager (jobs)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70916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Calibri"/>
              </a:rPr>
              <a:t>Image Docker : leshadoopriders/hadoop-tp-g4:1.0   (Hadoop 3.3.6)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D4E89"/>
                </a:solidFill>
                <a:latin typeface="Calibri"/>
                <a:hlinkClick r:id="rId2"/>
              </a:rPr>
              <a:t>UI HDFS → http://localhost:9870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D4E89"/>
                </a:solidFill>
                <a:latin typeface="Calibri"/>
                <a:hlinkClick r:id="rId3"/>
              </a:rPr>
              <a:t>UI YARN → http://localhost:8088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Frank A Simo Ngounou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Déploiement du cluster et publication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Mise en route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1. docker compose up --build -d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   → build local + démarrage des 6 services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2. docker ps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   → vérifier master + worker1…5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3. hdfs dfsadmin -report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5803D"/>
                </a:solidFill>
                <a:latin typeface="Calibri"/>
              </a:rPr>
              <a:t>   → Live datanodes (5) = cluster OK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5C4C"/>
                </a:solidFill>
                <a:latin typeface="Calibri"/>
              </a:rPr>
              <a:t>Publication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docker push leshadoopriders/hadoop-tp-g4:1.0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Docker Hub impose les minuscules (g4, pas G4).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2"/>
              </a:rPr>
              <a:t>Page Docker Hub →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3"/>
              </a:rPr>
              <a:t>Dépôt GitHub →</a:t>
            </a:r>
          </a:p>
        </p:txBody>
      </p:sp>
      <p:pic>
        <p:nvPicPr>
          <p:cNvPr id="7" name="Picture 6" descr="screenshot-terminal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143000"/>
            <a:ext cx="5760720" cy="36904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4348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Terminal : docker ps / dfsadmin -report</a:t>
            </a:r>
          </a:p>
        </p:txBody>
      </p:sp>
      <p:pic>
        <p:nvPicPr>
          <p:cNvPr id="9" name="Picture 8" descr="screenshot-namen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709160"/>
            <a:ext cx="1984248" cy="1417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Frank A Simo Ngounou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Manipulations HDFS — dossier /data/ventes/2026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Scénario : données de ventes e-commerce (CSV).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1. Création du dossier + droits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mkdir -p /data/ventes/2026  puis chmod 755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2. Upload du fichier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put transactions.csv  + chmod 644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3. Vérification des blocs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fsck + stat → HEALTHY, 1 bloc, réplication 3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4. Lecture et fusion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cat | head  puis  getmerge de 2 CSV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5. Corbeille + setrep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Calibri"/>
              </a:rPr>
              <a:t>rm vers .Trash  ;  setrep -w 2 → réplication 2</a:t>
            </a:r>
          </a:p>
        </p:txBody>
      </p:sp>
      <p:pic>
        <p:nvPicPr>
          <p:cNvPr id="7" name="Picture 6" descr="screenshot-terminal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5943600" cy="3807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0" y="489204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Capture terminal — commandes HDFS réellement exécutées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51663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Note : fichier petit (377 o) → 1 seul bloc. Normal avec une taille de bloc de 128 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Wren Surprenant-Nicolson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Job YARN : calcul de π (exemple MapReduce)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Nous avons lancé l’exemple officiel Hadoop (Monte Carlo)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Commande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yarn jar …/hadoop-mapreduce-examples-3.3.6.jar pi 4 1000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→ 4 maps, 1000 samples par map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F5C4C"/>
                </a:solidFill>
                <a:latin typeface="Calibri"/>
              </a:rPr>
              <a:t>Résultat obtenu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Application : application_1791039798429_0001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Nom : QuasiMonteCarlo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État final : SUCCEEDED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Estimation : π ≈ 3.14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Cela prouve que YARN alloue bien des ressources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et que les NodeManagers exécutent le job.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D4E89"/>
                </a:solidFill>
                <a:latin typeface="Calibri"/>
                <a:hlinkClick r:id="rId2"/>
              </a:rPr>
              <a:t>Ouvrir UI YARN →</a:t>
            </a:r>
          </a:p>
        </p:txBody>
      </p:sp>
      <p:pic>
        <p:nvPicPr>
          <p:cNvPr id="7" name="Picture 6" descr="screenshot-yarn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097280"/>
            <a:ext cx="6035040" cy="43107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429768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UI — détail application FINISHED / SUCCEEDED</a:t>
            </a:r>
          </a:p>
        </p:txBody>
      </p:sp>
      <p:pic>
        <p:nvPicPr>
          <p:cNvPr id="9" name="Picture 8" descr="screenshot-terminal-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4572000"/>
            <a:ext cx="2426505" cy="1554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Forbes Magène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Monitoring : interfaces web NameNode et YARN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Les UI permettent de vérifier l’état du cluster sans rester uniquement en ligne de commande.</a:t>
            </a:r>
          </a:p>
        </p:txBody>
      </p:sp>
      <p:pic>
        <p:nvPicPr>
          <p:cNvPr id="7" name="Picture 6" descr="screenshot-name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40168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41605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NameNode — vue d’ensemble du DFS</a:t>
            </a:r>
          </a:p>
        </p:txBody>
      </p:sp>
      <p:pic>
        <p:nvPicPr>
          <p:cNvPr id="9" name="Picture 8" descr="screenshot-data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577840" cy="3984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416052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Onglet DataNodes — 5 nœuds actifs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43484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NameNode (9870) : 5 DataNodes Live, espace DFS faible (labo), aucun missing block pendant nos tests.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YARN (8088) : job π en FINISHED/SUCCEEDED ; métriques mémoire et vcores visibles.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93B"/>
                </a:solidFill>
                <a:latin typeface="Calibri"/>
              </a:rPr>
              <a:t>Après setrep -w 2, le NameNode met à jour la cible de réplication du fichier.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D4E89"/>
                </a:solidFill>
                <a:latin typeface="Calibri"/>
                <a:hlinkClick r:id="rId4"/>
              </a:rPr>
              <a:t>NameNode →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D4E89"/>
                </a:solidFill>
                <a:latin typeface="Calibri"/>
                <a:hlinkClick r:id="rId5"/>
              </a:rPr>
              <a:t>DataNodes →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1D4E89"/>
                </a:solidFill>
                <a:latin typeface="Calibri"/>
                <a:hlinkClick r:id="rId6"/>
              </a:rPr>
              <a:t>YARN 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Joel Kazoni Tugirimana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Problèmes rencontrés et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Trois blocages réels pendant le projet — et comment on les a corrigés.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146304" cy="13716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1. pull access denied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Cause : Compose essayait de télécharger l’image du groupe avant qu’elle existe sur Hub.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Solution : pull_policy: never + build local de l’image, puis push une fois prête.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97180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971800"/>
            <a:ext cx="146304" cy="1371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8152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2. Tag avec majuscules refusé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Cause : Docker Hub n’accepte pas les majuscules dans le nom de dépôt (ex. G4).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Solution : Tag final : leshadoopriders/hadoop-tp-g4:1.0 (tout en minuscules).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48056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480560"/>
            <a:ext cx="146304" cy="137160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9028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293B"/>
                </a:solidFill>
                <a:latin typeface="Calibri"/>
              </a:rPr>
              <a:t>3. Téléchargement Hadoop trop lent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Cause : Le build restait bloqué longtemps sur archive.apache.org.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F5C4C"/>
                </a:solidFill>
                <a:latin typeface="Calibri"/>
              </a:rPr>
              <a:t>Solution : Image de base apache/hadoop:3.3.6 + notre config XML et entrypoint.sh.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Kassoum Dene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Conclusion — ce que nous avons livré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7223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En résumé, le groupe a déployé, testé et documenté un cluster Hadoop complet.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08760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36776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Cluster opérationnel : 1 master + 5 DataNodes / NodeManagers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167128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95144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HDFS maîtrisé : droits, fsck, lecture, getmerge, Trash, setrep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25496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Job MapReduce π terminé avec succès (SUCCEEDED, π ≈ 3.14)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483864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11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Image publiée : leshadoopriders/hadoop-tp-g4:1.0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142231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47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270247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✓  Rapport + code source + captures pour le rendu</a:t>
            </a:r>
          </a:p>
        </p:txBody>
      </p:sp>
      <p:pic>
        <p:nvPicPr>
          <p:cNvPr id="17" name="Picture 16" descr="screenshot-yarn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17320"/>
            <a:ext cx="4023360" cy="2873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3977639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Preuve job SUCCEEDED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4297680"/>
            <a:ext cx="4023360" cy="365760"/>
          </a:xfrm>
          <a:prstGeom prst="roundRect">
            <a:avLst>
              <a:gd name="adj" fmla="val 8000"/>
            </a:avLst>
          </a:prstGeom>
          <a:solidFill>
            <a:srgbClr val="14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4343400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3"/>
              </a:rPr>
              <a:t>Docker Hub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800600"/>
            <a:ext cx="4023360" cy="36576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846320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hlinkClick r:id="rId4"/>
              </a:rPr>
              <a:t>GitHub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937760"/>
            <a:ext cx="7223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5C4C"/>
                </a:solidFill>
                <a:latin typeface="Calibri"/>
              </a:rPr>
              <a:t>Merci — des questions ?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Les_Hadoop_Riders  ·  Komla · Kassoum · Joel · Forbes · Frank · Wren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5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6446520"/>
            <a:ext cx="9326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Présenté par : Wren Surprenant-Nicolson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