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Introduire le groupe. Montrer qu’on a une vraie UI avec 5 DataNodes. Citer Hub + GitHub.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Annoncer le plan rapidement, sans lire chaque carte.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exemple concret par V. Finir sur HDFS + YARN.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Pointer le schéma : NameNode en haut, DataNodes en bas avec réplication.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Suivre les 3 boîtes. Montrer la capture YARN.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le schéma master au-dessus, 5 workers en dessous.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le terminal. Rappeler Hub en minuscules.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Parcourir la liste en montrant la capture.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SUCCEEDED + numéro d’app. Capture UI à droite.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les deux captures. Cliquer les liens si connexion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problèmes, 3 solutions. Lien Hub pour prouver la publication.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Récap 20 s. Pointer Hub + GitHub. Ouvrir les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hub.docker.com/r/leshadoopriders/hadoop-tp-g4" TargetMode="External"/><Relationship Id="rId4" Type="http://schemas.openxmlformats.org/officeDocument/2006/relationships/hyperlink" Target="https://github.com/asinyopetro/Les_Hadoop_Riders_G4" TargetMode="Externa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://localhost:8088" TargetMode="Externa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://localhost:9870" TargetMode="External"/><Relationship Id="rId3" Type="http://schemas.openxmlformats.org/officeDocument/2006/relationships/hyperlink" Target="http://localhost:8088" TargetMode="Externa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hub.docker.com/r/leshadoopriders/hadoop-tp-g4" TargetMode="External"/><Relationship Id="rId3" Type="http://schemas.openxmlformats.org/officeDocument/2006/relationships/hyperlink" Target="https://github.com/asinyopetro/Les_Hadoop_Riders_G4" TargetMode="External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://localhost:8088" TargetMode="Externa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hyperlink" Target="http://localhost:9870" TargetMode="External"/><Relationship Id="rId5" Type="http://schemas.openxmlformats.org/officeDocument/2006/relationships/hyperlink" Target="http://localhost:9870/dfshealth.html#tab-datanode" TargetMode="External"/><Relationship Id="rId6" Type="http://schemas.openxmlformats.org/officeDocument/2006/relationships/hyperlink" Target="http://localhost:8088" TargetMode="External"/><Relationship Id="rId7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hub.docker.com/r/leshadoopriders/hadoop-tp-g4" TargetMode="External"/><Relationship Id="rId4" Type="http://schemas.openxmlformats.org/officeDocument/2006/relationships/hyperlink" Target="https://github.com/asinyopetro/Les_Hadoop_Riders_G4" TargetMode="Externa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79" y="0"/>
            <a:ext cx="4754880" cy="6858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reenshot-datano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79" y="1280160"/>
            <a:ext cx="4297680" cy="306977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26679" y="507492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Capture UI — 5 DataNodes actifs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6583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Calibri"/>
              </a:rPr>
              <a:t>Cluster Hadoop</a:t>
            </a:r>
          </a:p>
          <a:p>
            <a:pPr algn="l">
              <a:spcAft>
                <a:spcPts val="600"/>
              </a:spcAft>
            </a:pPr>
            <a:r>
              <a:rPr sz="3400" b="1">
                <a:solidFill>
                  <a:srgbClr val="D1FAE5"/>
                </a:solidFill>
                <a:latin typeface="Calibri"/>
              </a:rPr>
              <a:t>avec Docker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17520"/>
            <a:ext cx="6583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UA1 — Projet 1  |  Groupe G4</a:t>
            </a:r>
          </a:p>
          <a:p>
            <a:pPr algn="l">
              <a:spcAft>
                <a:spcPts val="10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Les_Hadoop_Riders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CBD5E1"/>
                </a:solidFill>
                <a:latin typeface="Calibri"/>
              </a:rPr>
              <a:t>HDFS · YARN · Docker Compose · MapReduce 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754880"/>
            <a:ext cx="3017520" cy="384048"/>
          </a:xfrm>
          <a:prstGeom prst="roundRect">
            <a:avLst>
              <a:gd name="adj" fmla="val 8000"/>
            </a:avLst>
          </a:prstGeom>
          <a:solidFill>
            <a:srgbClr val="147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800600"/>
            <a:ext cx="3017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hlinkClick r:id="rId3"/>
              </a:rPr>
              <a:t>Docker Hub 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49039" y="4754880"/>
            <a:ext cx="2743200" cy="384048"/>
          </a:xfrm>
          <a:prstGeom prst="roundRect">
            <a:avLst>
              <a:gd name="adj" fmla="val 8000"/>
            </a:avLst>
          </a:prstGeom>
          <a:solidFill>
            <a:srgbClr val="1D4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39" y="48006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hlinkClick r:id="rId4"/>
              </a:rPr>
              <a:t>GitHub 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6446520"/>
            <a:ext cx="9326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Présenté par : Komla Petro Asinyo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446520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56032"/>
            <a:ext cx="11338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Plan de la présentation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325880"/>
            <a:ext cx="27432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47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2468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0F5C4C"/>
                </a:solidFill>
                <a:latin typeface="Calibri"/>
              </a:rPr>
              <a:t>01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1E293B"/>
                </a:solidFill>
                <a:latin typeface="Calibri"/>
              </a:rPr>
              <a:t>E-commerce &amp; 3V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Calibri"/>
              </a:rPr>
              <a:t>Kassoum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1325880"/>
            <a:ext cx="27432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47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0" y="1554480"/>
            <a:ext cx="2468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0F5C4C"/>
                </a:solidFill>
                <a:latin typeface="Calibri"/>
              </a:rPr>
              <a:t>02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1E293B"/>
                </a:solidFill>
                <a:latin typeface="Calibri"/>
              </a:rPr>
              <a:t>HDFS vs FS local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Calibri"/>
              </a:rPr>
              <a:t>Joel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25880"/>
            <a:ext cx="27432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47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554480"/>
            <a:ext cx="2468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0F5C4C"/>
                </a:solidFill>
                <a:latin typeface="Calibri"/>
              </a:rPr>
              <a:t>03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1E293B"/>
                </a:solidFill>
                <a:latin typeface="Calibri"/>
              </a:rPr>
              <a:t>YARN (RM / NM)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Calibri"/>
              </a:rPr>
              <a:t>Forbes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89720" y="1325880"/>
            <a:ext cx="27432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47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0" y="1554480"/>
            <a:ext cx="2468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0F5C4C"/>
                </a:solidFill>
                <a:latin typeface="Calibri"/>
              </a:rPr>
              <a:t>04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1E293B"/>
                </a:solidFill>
                <a:latin typeface="Calibri"/>
              </a:rPr>
              <a:t>Architecture Docker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Calibri"/>
              </a:rPr>
              <a:t>Frank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520439"/>
            <a:ext cx="27432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47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749039"/>
            <a:ext cx="2468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0F5C4C"/>
                </a:solidFill>
                <a:latin typeface="Calibri"/>
              </a:rPr>
              <a:t>05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1E293B"/>
                </a:solidFill>
                <a:latin typeface="Calibri"/>
              </a:rPr>
              <a:t>Déploiement &amp; Hub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Calibri"/>
              </a:rPr>
              <a:t>Frank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37560" y="3520439"/>
            <a:ext cx="27432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47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4720" y="3749039"/>
            <a:ext cx="2468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0F5C4C"/>
                </a:solidFill>
                <a:latin typeface="Calibri"/>
              </a:rPr>
              <a:t>06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1E293B"/>
                </a:solidFill>
                <a:latin typeface="Calibri"/>
              </a:rPr>
              <a:t>Manipulations HDFS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Calibri"/>
              </a:rPr>
              <a:t>Wren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520439"/>
            <a:ext cx="27432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47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3749039"/>
            <a:ext cx="2468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0F5C4C"/>
                </a:solidFill>
                <a:latin typeface="Calibri"/>
              </a:rPr>
              <a:t>07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1E293B"/>
                </a:solidFill>
                <a:latin typeface="Calibri"/>
              </a:rPr>
              <a:t>Job π + monitoring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Calibri"/>
              </a:rPr>
              <a:t>Forbes / Joel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89720" y="3520439"/>
            <a:ext cx="27432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47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0" y="3749039"/>
            <a:ext cx="2468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0F5C4C"/>
                </a:solidFill>
                <a:latin typeface="Calibri"/>
              </a:rPr>
              <a:t>08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1E293B"/>
                </a:solidFill>
                <a:latin typeface="Calibri"/>
              </a:rPr>
              <a:t>Troubles &amp; conclusion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Calibri"/>
              </a:rPr>
              <a:t>Kassoum / Komla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" y="6446520"/>
            <a:ext cx="9326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Présenté par : Komla Petro Asinyo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6446520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56032"/>
            <a:ext cx="11338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Cas d’usage e-commerce — les 3V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280160"/>
            <a:ext cx="352044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D4E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3520440" cy="640080"/>
          </a:xfrm>
          <a:prstGeom prst="rect">
            <a:avLst/>
          </a:prstGeom>
          <a:solidFill>
            <a:srgbClr val="1D4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📦  Volume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9456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Calibri"/>
              </a:rPr>
              <a:t>Millions d’événements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Calibri"/>
              </a:rPr>
              <a:t>historique multi-années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60520" y="1280160"/>
            <a:ext cx="352044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60520" y="1280160"/>
            <a:ext cx="3520440" cy="64008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3400" y="13716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⚡  Vélocité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19456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Calibri"/>
              </a:rPr>
              <a:t>Commandes &amp; paiements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Calibri"/>
              </a:rPr>
              <a:t>en continu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1280160"/>
            <a:ext cx="352044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55279" y="1280160"/>
            <a:ext cx="3520440" cy="64008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59" y="13716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🧩  Variété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79" y="219456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Calibri"/>
              </a:rPr>
              <a:t>CSV, JSON, logs,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Calibri"/>
              </a:rPr>
              <a:t>images produits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6344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5C4C"/>
                </a:solidFill>
                <a:latin typeface="Calibri"/>
              </a:rPr>
              <a:t>Chaîne de magasins : tickets de caisse + logs web + stocks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293B"/>
                </a:solidFill>
                <a:latin typeface="Calibri"/>
              </a:rPr>
              <a:t>HDFS → stockage distribué     |     YARN → traitements (MapReduce, etc.)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" y="6446520"/>
            <a:ext cx="9326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Présenté par : Kassoum Dene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446520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56032"/>
            <a:ext cx="11338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HDFS vs système de fichiers classique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234440"/>
            <a:ext cx="5394960" cy="4754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475569"/>
                </a:solidFill>
                <a:latin typeface="Calibri"/>
              </a:rPr>
              <a:t>FS classique (NTFS / ext4)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54480" y="2194560"/>
            <a:ext cx="2926080" cy="14630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267712"/>
            <a:ext cx="27432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 machine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Fichier entier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OS local = métadonnées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23360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E293B"/>
                </a:solidFill>
                <a:latin typeface="Calibri"/>
              </a:rPr>
              <a:t>• Un seul point de défaillance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E293B"/>
                </a:solidFill>
                <a:latin typeface="Calibri"/>
              </a:rPr>
              <a:t>• Pas de réplication native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E293B"/>
                </a:solidFill>
                <a:latin typeface="Calibri"/>
              </a:rPr>
              <a:t>• Limité à la capacité du disque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234440"/>
            <a:ext cx="5669280" cy="4754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F5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37160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F5C4C"/>
                </a:solidFill>
                <a:latin typeface="Calibri"/>
              </a:rPr>
              <a:t>HDFS (distribué)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0" y="1965960"/>
            <a:ext cx="2560320" cy="914400"/>
          </a:xfrm>
          <a:prstGeom prst="roundRect">
            <a:avLst>
              <a:gd name="adj" fmla="val 8000"/>
            </a:avLst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0" y="2039112"/>
            <a:ext cx="237743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NameNode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namespace + blocs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3200400"/>
            <a:ext cx="1645920" cy="1051560"/>
          </a:xfrm>
          <a:prstGeom prst="roundRect">
            <a:avLst>
              <a:gd name="adj" fmla="val 8000"/>
            </a:avLst>
          </a:prstGeom>
          <a:solidFill>
            <a:srgbClr val="147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273552"/>
            <a:ext cx="1463040" cy="914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DN1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blocs répliqués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3200400"/>
            <a:ext cx="1645920" cy="1051560"/>
          </a:xfrm>
          <a:prstGeom prst="roundRect">
            <a:avLst>
              <a:gd name="adj" fmla="val 8000"/>
            </a:avLst>
          </a:prstGeom>
          <a:solidFill>
            <a:srgbClr val="147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3273552"/>
            <a:ext cx="1463040" cy="914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DN2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blocs répliqués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3200400"/>
            <a:ext cx="1645920" cy="1051560"/>
          </a:xfrm>
          <a:prstGeom prst="roundRect">
            <a:avLst>
              <a:gd name="adj" fmla="val 8000"/>
            </a:avLst>
          </a:prstGeom>
          <a:solidFill>
            <a:srgbClr val="147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0" y="3273552"/>
            <a:ext cx="1463040" cy="914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DN3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blocs répliqués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4572000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E293B"/>
                </a:solidFill>
                <a:latin typeface="Calibri"/>
              </a:rPr>
              <a:t>Fichier découpé en blocs + réplication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Tolérance aux pannes sur plusieurs nœuds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" y="6446520"/>
            <a:ext cx="9326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Présenté par : Joel Kazoni Tugirimana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6446520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56032"/>
            <a:ext cx="11338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YARN : ResourceManager et NodeManager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3291840" cy="2011680"/>
          </a:xfrm>
          <a:prstGeom prst="roundRect">
            <a:avLst>
              <a:gd name="adj" fmla="val 8000"/>
            </a:avLst>
          </a:prstGeom>
          <a:solidFill>
            <a:srgbClr val="1D4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44752"/>
            <a:ext cx="310896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1. Client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soumet le job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yarn jar … pi 4 1000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371600"/>
            <a:ext cx="3474720" cy="2011680"/>
          </a:xfrm>
          <a:prstGeom prst="roundRect">
            <a:avLst>
              <a:gd name="adj" fmla="val 8000"/>
            </a:avLst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59" y="1444752"/>
            <a:ext cx="3291839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2. ResourceManager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master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alloue conteneurs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lance ApplicationMaster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03920" y="1371600"/>
            <a:ext cx="3200400" cy="2011680"/>
          </a:xfrm>
          <a:prstGeom prst="roundRect">
            <a:avLst>
              <a:gd name="adj" fmla="val 8000"/>
            </a:avLst>
          </a:prstGeom>
          <a:solidFill>
            <a:srgbClr val="147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0" y="1444752"/>
            <a:ext cx="301752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3. NodeManagers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sur chaque worker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exécutent les tâches</a:t>
            </a:r>
          </a:p>
        </p:txBody>
      </p:sp>
      <p:pic>
        <p:nvPicPr>
          <p:cNvPr id="12" name="Picture 11" descr="screenshot-ya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0"/>
            <a:ext cx="7132320" cy="50945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5897880"/>
            <a:ext cx="713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UI YARN — http://localhost:8088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3657600"/>
            <a:ext cx="4023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5C4C"/>
                </a:solidFill>
                <a:latin typeface="Calibri"/>
              </a:rPr>
              <a:t>En résumé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E293B"/>
                </a:solidFill>
                <a:latin typeface="Calibri"/>
              </a:rPr>
              <a:t>RM orchestre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Calibri"/>
              </a:rPr>
              <a:t>NM exécute localement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D4E89"/>
                </a:solidFill>
                <a:latin typeface="Calibri"/>
                <a:hlinkClick r:id="rId3"/>
              </a:rPr>
              <a:t>Ouvrir l’UI 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6446520"/>
            <a:ext cx="9326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Présenté par : Forbes Magène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446520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56032"/>
            <a:ext cx="11338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Architecture Docker — 1 master + 5 workers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0" y="1234440"/>
            <a:ext cx="5760720" cy="1417320"/>
          </a:xfrm>
          <a:prstGeom prst="roundRect">
            <a:avLst>
              <a:gd name="adj" fmla="val 8000"/>
            </a:avLst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0" y="1307592"/>
            <a:ext cx="5577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hadoop-master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NameNode · ResourceManager · SecondaryNameNode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Ports : 9870 · 8088 · 9000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3017520"/>
            <a:ext cx="2194560" cy="1325880"/>
          </a:xfrm>
          <a:prstGeom prst="roundRect">
            <a:avLst>
              <a:gd name="adj" fmla="val 8000"/>
            </a:avLst>
          </a:prstGeom>
          <a:solidFill>
            <a:srgbClr val="147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090672"/>
            <a:ext cx="2011679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worker1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DataNode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NodeManager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0" y="3017520"/>
            <a:ext cx="2194560" cy="1325880"/>
          </a:xfrm>
          <a:prstGeom prst="roundRect">
            <a:avLst>
              <a:gd name="adj" fmla="val 8000"/>
            </a:avLst>
          </a:prstGeom>
          <a:solidFill>
            <a:srgbClr val="147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4640" y="3090672"/>
            <a:ext cx="2011679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worker2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DataNode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NodeManager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74920" y="3017520"/>
            <a:ext cx="2194560" cy="1325880"/>
          </a:xfrm>
          <a:prstGeom prst="roundRect">
            <a:avLst>
              <a:gd name="adj" fmla="val 8000"/>
            </a:avLst>
          </a:prstGeom>
          <a:solidFill>
            <a:srgbClr val="147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66359" y="3090672"/>
            <a:ext cx="2011679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worker3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DataNode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NodeManager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06640" y="3017520"/>
            <a:ext cx="2194560" cy="1325880"/>
          </a:xfrm>
          <a:prstGeom prst="roundRect">
            <a:avLst>
              <a:gd name="adj" fmla="val 8000"/>
            </a:avLst>
          </a:prstGeom>
          <a:solidFill>
            <a:srgbClr val="147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79" y="3090672"/>
            <a:ext cx="2011679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worker4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DataNode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NodeManager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738359" y="3017520"/>
            <a:ext cx="2194560" cy="1325880"/>
          </a:xfrm>
          <a:prstGeom prst="roundRect">
            <a:avLst>
              <a:gd name="adj" fmla="val 8000"/>
            </a:avLst>
          </a:prstGeom>
          <a:solidFill>
            <a:srgbClr val="147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29799" y="3090672"/>
            <a:ext cx="2011679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worker5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DataNode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NodeManager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17720"/>
            <a:ext cx="11155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E293B"/>
                </a:solidFill>
                <a:latin typeface="Calibri"/>
              </a:rPr>
              <a:t>Réseau Docker : hadoop-net     |     Image : leshadoopriders/hadoop-tp-g4:1.0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D4E89"/>
                </a:solidFill>
                <a:latin typeface="Calibri"/>
                <a:hlinkClick r:id="rId2"/>
              </a:rPr>
              <a:t>UI HDFS →  localhost:9870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D4E89"/>
                </a:solidFill>
                <a:latin typeface="Calibri"/>
                <a:hlinkClick r:id="rId3"/>
              </a:rPr>
              <a:t>UI YARN →  localhost:8088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" y="6446520"/>
            <a:ext cx="9326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Présenté par : Frank A Simo Ngounou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446520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56032"/>
            <a:ext cx="11338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Déploiement + publication Docker Hub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188720"/>
            <a:ext cx="5303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0F5C4C"/>
                </a:solidFill>
                <a:latin typeface="Calibri"/>
              </a:rPr>
              <a:t>Commandes clés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E293B"/>
                </a:solidFill>
                <a:latin typeface="Calibri"/>
              </a:rPr>
              <a:t>docker compose up --build -d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E293B"/>
                </a:solidFill>
                <a:latin typeface="Calibri"/>
              </a:rPr>
              <a:t>docker ps   →  6 conteneurs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E293B"/>
                </a:solidFill>
                <a:latin typeface="Calibri"/>
              </a:rPr>
              <a:t>hdfs dfsadmin -report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15803D"/>
                </a:solidFill>
                <a:latin typeface="Calibri"/>
              </a:rPr>
              <a:t>→ Live datanodes (5)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Calibri"/>
              </a:rPr>
              <a:t>docker push …/hadoop-tp-g4:1.0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D4E89"/>
                </a:solidFill>
                <a:latin typeface="Calibri"/>
                <a:hlinkClick r:id="rId2"/>
              </a:rPr>
              <a:t>Ouvrir Docker Hub →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D4E89"/>
                </a:solidFill>
                <a:latin typeface="Calibri"/>
                <a:hlinkClick r:id="rId3"/>
              </a:rPr>
              <a:t>Ouvrir GitHub →</a:t>
            </a:r>
          </a:p>
        </p:txBody>
      </p:sp>
      <p:pic>
        <p:nvPicPr>
          <p:cNvPr id="7" name="Picture 6" descr="screenshot-terminal-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1143000"/>
            <a:ext cx="5943600" cy="380761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52160" y="461772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Terminal — docker ps / dfsadmin</a:t>
            </a:r>
          </a:p>
        </p:txBody>
      </p:sp>
      <p:pic>
        <p:nvPicPr>
          <p:cNvPr id="9" name="Picture 8" descr="screenshot-nameno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2160" y="4892040"/>
            <a:ext cx="1792224" cy="128016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6446520"/>
            <a:ext cx="9326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Présenté par : Frank A Simo Ngounou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446520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56032"/>
            <a:ext cx="11338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Manipulations HDFS — /data/ventes/2026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0F5C4C"/>
                </a:solidFill>
                <a:latin typeface="Calibri"/>
              </a:rPr>
              <a:t>Étapes réalisées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1E293B"/>
                </a:solidFill>
                <a:latin typeface="Calibri"/>
              </a:rPr>
              <a:t>1. mkdir + chmod + put (CSV)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1E293B"/>
                </a:solidFill>
                <a:latin typeface="Calibri"/>
              </a:rPr>
              <a:t>2. fsck / stat → HEALTHY, rep=3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1E293B"/>
                </a:solidFill>
                <a:latin typeface="Calibri"/>
              </a:rPr>
              <a:t>3. cat | head (5 lignes)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1E293B"/>
                </a:solidFill>
                <a:latin typeface="Calibri"/>
              </a:rPr>
              <a:t>4. getmerge (2 fichiers)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1E293B"/>
                </a:solidFill>
                <a:latin typeface="Calibri"/>
              </a:rPr>
              <a:t>5. rm + Trash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15803D"/>
                </a:solidFill>
                <a:latin typeface="Calibri"/>
              </a:rPr>
              <a:t>6. setrep -w 2 → réplication 2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Calibri"/>
              </a:rPr>
              <a:t>Fichier petit = 1 bloc (128 Mo)</a:t>
            </a:r>
          </a:p>
        </p:txBody>
      </p:sp>
      <p:pic>
        <p:nvPicPr>
          <p:cNvPr id="7" name="Picture 6" descr="screenshot-terminal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188720"/>
            <a:ext cx="6126480" cy="392477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0" y="4709160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Terminal — commandes HDFS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6446520"/>
            <a:ext cx="9326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Présenté par : Wren Surprenant-Nicolson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446520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56032"/>
            <a:ext cx="11338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Job YARN — calcul de π (SUCCEEDED)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>
                <a:solidFill>
                  <a:srgbClr val="0F5C4C"/>
                </a:solidFill>
                <a:latin typeface="Calibri"/>
              </a:rPr>
              <a:t>yarn jar … examples … pi 4 1000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1E293B"/>
                </a:solidFill>
                <a:latin typeface="Calibri"/>
              </a:rPr>
              <a:t>App : application_…_0001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1E293B"/>
                </a:solidFill>
                <a:latin typeface="Calibri"/>
              </a:rPr>
              <a:t>Nom : QuasiMonteCarlo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15803D"/>
                </a:solidFill>
                <a:latin typeface="Calibri"/>
              </a:rPr>
              <a:t>État : SUCCEEDED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1E293B"/>
                </a:solidFill>
                <a:latin typeface="Calibri"/>
              </a:rPr>
              <a:t>π ≈ 3.14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D4E89"/>
                </a:solidFill>
                <a:latin typeface="Calibri"/>
                <a:hlinkClick r:id="rId2"/>
              </a:rPr>
              <a:t>UI YARN →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D4E89"/>
                </a:solidFill>
                <a:latin typeface="Calibri"/>
                <a:hlinkClick r:id="rId2"/>
              </a:rPr>
              <a:t>Détail application →</a:t>
            </a:r>
          </a:p>
        </p:txBody>
      </p:sp>
      <p:pic>
        <p:nvPicPr>
          <p:cNvPr id="7" name="Picture 6" descr="screenshot-yarn-ap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0" y="1143000"/>
            <a:ext cx="6217920" cy="444137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577840" y="4434840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Détail application — FINISHED / SUCCEEDED</a:t>
            </a:r>
          </a:p>
        </p:txBody>
      </p:sp>
      <p:pic>
        <p:nvPicPr>
          <p:cNvPr id="9" name="Picture 8" descr="screenshot-terminal-0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7840" y="4709160"/>
            <a:ext cx="2212402" cy="1417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6446520"/>
            <a:ext cx="9326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Présenté par : Forbes Magène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446520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56032"/>
            <a:ext cx="11338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Monitoring — interfaces web</a:t>
            </a:r>
          </a:p>
        </p:txBody>
      </p:sp>
      <p:pic>
        <p:nvPicPr>
          <p:cNvPr id="6" name="Picture 5" descr="screenshot-namen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88720"/>
            <a:ext cx="5669280" cy="404948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20040" y="416052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NameNode — localhost:9870</a:t>
            </a:r>
          </a:p>
        </p:txBody>
      </p:sp>
      <p:pic>
        <p:nvPicPr>
          <p:cNvPr id="8" name="Picture 7" descr="screenshot-datanod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577840" cy="39841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4160520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DataNodes — 5 Live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4572000"/>
            <a:ext cx="3200400" cy="384048"/>
          </a:xfrm>
          <a:prstGeom prst="roundRect">
            <a:avLst>
              <a:gd name="adj" fmla="val 8000"/>
            </a:avLst>
          </a:prstGeom>
          <a:solidFill>
            <a:srgbClr val="147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461772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hlinkClick r:id="rId4"/>
              </a:rPr>
              <a:t>Ouvrir NameNode 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0" y="4572000"/>
            <a:ext cx="3200400" cy="384048"/>
          </a:xfrm>
          <a:prstGeom prst="roundRect">
            <a:avLst>
              <a:gd name="adj" fmla="val 8000"/>
            </a:avLst>
          </a:prstGeom>
          <a:solidFill>
            <a:srgbClr val="1D4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0" y="461772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hlinkClick r:id="rId5"/>
              </a:rPr>
              <a:t>Liste DataNodes 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40880" y="4572000"/>
            <a:ext cx="3200400" cy="384048"/>
          </a:xfrm>
          <a:prstGeom prst="roundRect">
            <a:avLst>
              <a:gd name="adj" fmla="val 8000"/>
            </a:avLst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0" y="461772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hlinkClick r:id="rId6"/>
              </a:rPr>
              <a:t>Ouvrir YARN 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120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Pas de missing block  ·  setrep met à jour la cible de réplication sur le NameNode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6446520"/>
            <a:ext cx="9326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Présenté par : Joel Kazoni Tugirimana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446520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56032"/>
            <a:ext cx="11338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Problèmes rencontrés → solutions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234440"/>
            <a:ext cx="113385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234440"/>
            <a:ext cx="164592" cy="141732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37160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E293B"/>
                </a:solidFill>
                <a:latin typeface="Calibri"/>
              </a:rPr>
              <a:t>1. Pull access denied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64748B"/>
                </a:solidFill>
                <a:latin typeface="Calibri"/>
              </a:rPr>
              <a:t>Cause : Image pas encore sur Hub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F5C4C"/>
                </a:solidFill>
                <a:latin typeface="Calibri"/>
              </a:rPr>
              <a:t>Solution : pull_policy: never + build local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2788920"/>
            <a:ext cx="113385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2788920"/>
            <a:ext cx="164592" cy="14173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926079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E293B"/>
                </a:solidFill>
                <a:latin typeface="Calibri"/>
              </a:rPr>
              <a:t>2. Tag majuscules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64748B"/>
                </a:solidFill>
                <a:latin typeface="Calibri"/>
              </a:rPr>
              <a:t>Cause : Docker Hub refuse G4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F5C4C"/>
                </a:solidFill>
                <a:latin typeface="Calibri"/>
              </a:rPr>
              <a:t>Solution : leshadoopriders/hadoop-tp-g4:1.0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4343400"/>
            <a:ext cx="113385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D4E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4343400"/>
            <a:ext cx="164592" cy="1417320"/>
          </a:xfrm>
          <a:prstGeom prst="rect">
            <a:avLst/>
          </a:prstGeom>
          <a:solidFill>
            <a:srgbClr val="1D4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48056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E293B"/>
                </a:solidFill>
                <a:latin typeface="Calibri"/>
              </a:rPr>
              <a:t>3. Download trop lent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64748B"/>
                </a:solidFill>
                <a:latin typeface="Calibri"/>
              </a:rPr>
              <a:t>Cause : archive.apache.org bloqué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F5C4C"/>
                </a:solidFill>
                <a:latin typeface="Calibri"/>
              </a:rPr>
              <a:t>Solution : Base apache/hadoop:3.3.6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6446520"/>
            <a:ext cx="9326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Présenté par : Kassoum Dene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446520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56032"/>
            <a:ext cx="11338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Conclusion — merci 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34440"/>
            <a:ext cx="713232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47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99032"/>
            <a:ext cx="6766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E293B"/>
                </a:solidFill>
                <a:latin typeface="Calibri"/>
              </a:rPr>
              <a:t>✓  Cluster 1 master + 5 DataNodes opérationnel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011680"/>
            <a:ext cx="713232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47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76272"/>
            <a:ext cx="6766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E293B"/>
                </a:solidFill>
                <a:latin typeface="Calibri"/>
              </a:rPr>
              <a:t>✓  HDFS : droits, fsck, merge, trash, setrep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788920"/>
            <a:ext cx="713232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47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953512"/>
            <a:ext cx="6766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E293B"/>
                </a:solidFill>
                <a:latin typeface="Calibri"/>
              </a:rPr>
              <a:t>✓  Job MapReduce π → SUCCEEDED (π ≈ 3.14)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566160"/>
            <a:ext cx="713232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47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730752"/>
            <a:ext cx="6766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E293B"/>
                </a:solidFill>
                <a:latin typeface="Calibri"/>
              </a:rPr>
              <a:t>✓  Image publique sur Docker Hub</a:t>
            </a:r>
          </a:p>
        </p:txBody>
      </p:sp>
      <p:pic>
        <p:nvPicPr>
          <p:cNvPr id="14" name="Picture 13" descr="screenshot-yarn-ap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234440"/>
            <a:ext cx="3931920" cy="280851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863840" y="39319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Preuve job SUCCEEDED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63840" y="4297680"/>
            <a:ext cx="3931920" cy="384048"/>
          </a:xfrm>
          <a:prstGeom prst="roundRect">
            <a:avLst>
              <a:gd name="adj" fmla="val 8000"/>
            </a:avLst>
          </a:prstGeom>
          <a:solidFill>
            <a:srgbClr val="147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0" y="4343400"/>
            <a:ext cx="3931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hlinkClick r:id="rId3"/>
              </a:rPr>
              <a:t>Docker Hub 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63840" y="4846320"/>
            <a:ext cx="3931920" cy="384048"/>
          </a:xfrm>
          <a:prstGeom prst="roundRect">
            <a:avLst>
              <a:gd name="adj" fmla="val 8000"/>
            </a:avLst>
          </a:prstGeom>
          <a:solidFill>
            <a:srgbClr val="1D4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63840" y="4892040"/>
            <a:ext cx="3931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hlinkClick r:id="rId4"/>
              </a:rPr>
              <a:t>GitHub du projet 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572000"/>
            <a:ext cx="71323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F5C4C"/>
                </a:solidFill>
                <a:latin typeface="Calibri"/>
              </a:rPr>
              <a:t>Questions ?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Calibri"/>
              </a:rPr>
              <a:t>Komla · Kassoum · Joel · Forbes · Frank · Wren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" y="6446520"/>
            <a:ext cx="9326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Présenté par : Komla Petro Asinyo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446520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